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  <Default Extension="fntdata" ContentType="application/x-fontdata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mbeddedFontLst>
    <p:embeddedFont>
      <p:font typeface="Noto Sans" pitchFamily="34" charset="0"/>
      <p:regular r:id="rId15"/>
      <p:bold r:id="rId16"/>
    </p:embeddedFont>
    <p:embeddedFont>
      <p:font typeface="Noto Sans Black" pitchFamily="34" charset="0"/>
      <p:regular r:id="rId17"/>
    </p:embeddedFont>
  </p:embeddedFon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font" Target="fonts/9b6140d7-cb70-4412-a200-576d3a1f9746.fntdata"/><Relationship Id="rId16" Type="http://schemas.openxmlformats.org/officeDocument/2006/relationships/font" Target="fonts/67ad3283-ac23-451d-9b78-59c282c63210.fntdata"/><Relationship Id="rId17" Type="http://schemas.openxmlformats.org/officeDocument/2006/relationships/font" Target="fonts/a4680ce3-e301-4b6f-bd75-5e3a4d3fdd2e.fntdata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06BD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6748272"/>
            <a:ext cx="12191695" cy="109728"/>
          </a:xfrm>
          <a:prstGeom prst="rect">
            <a:avLst/>
          </a:prstGeom>
          <a:solidFill>
            <a:srgbClr val="D6FF0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928" y="384048"/>
            <a:ext cx="1874519" cy="578465"/>
          </a:xfrm>
          <a:prstGeom prst="rect">
            <a:avLst/>
          </a:prstGeom>
        </p:spPr>
      </p:pic>
      <p:sp>
        <p:nvSpPr>
          <p:cNvPr id="5" name="Rounded Rectangle 4"/>
          <p:cNvSpPr/>
          <p:nvPr/>
        </p:nvSpPr>
        <p:spPr>
          <a:xfrm>
            <a:off x="8732520" y="438912"/>
            <a:ext cx="2889504" cy="384048"/>
          </a:xfrm>
          <a:prstGeom prst="roundRect">
            <a:avLst>
              <a:gd name="adj" fmla="val 50000"/>
            </a:avLst>
          </a:prstGeom>
          <a:solidFill>
            <a:srgbClr val="D6FF00"/>
          </a:solidFill>
          <a:ln>
            <a:noFill/>
          </a:ln>
        </p:spPr>
        <p:txBody>
          <a:bodyPr rtlCol="0" anchor="ctr" wrap="none" lIns="73152" rIns="73152"/>
          <a:lstStyle/>
          <a:p>
            <a:pPr algn="ctr"/>
            <a:r>
              <a:rPr sz="1100" b="1">
                <a:solidFill>
                  <a:srgbClr val="151435"/>
                </a:solidFill>
                <a:latin typeface="Noto Sans"/>
                <a:ea typeface="Noto Sans"/>
                <a:cs typeface="Noto Sans"/>
              </a:rPr>
              <a:t>BUILT WITH AN MCP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1965960"/>
            <a:ext cx="9144000" cy="292608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D6FF00"/>
                </a:solidFill>
                <a:latin typeface="Noto Sans"/>
                <a:ea typeface="Noto Sans"/>
                <a:cs typeface="Noto Sans"/>
              </a:rPr>
              <a:t>WETLAND  ·  MCP MARKETPLACE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2304288"/>
            <a:ext cx="10972800" cy="155448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96000"/>
              </a:lnSpc>
            </a:pPr>
            <a:r>
              <a:rPr sz="4600" b="0">
                <a:solidFill>
                  <a:srgbClr val="FFFFFF"/>
                </a:solidFill>
                <a:latin typeface="Noto Sans Black"/>
                <a:ea typeface="Noto Sans Black"/>
                <a:cs typeface="Noto Sans Black"/>
              </a:rPr>
              <a:t>The catalogue that can</a:t>
            </a:r>
          </a:p>
          <a:p>
            <a:pPr algn="l">
              <a:lnSpc>
                <a:spcPct val="96000"/>
              </a:lnSpc>
            </a:pPr>
            <a:r>
              <a:rPr sz="4600" b="0">
                <a:solidFill>
                  <a:srgbClr val="FFFFFF"/>
                </a:solidFill>
                <a:latin typeface="Noto Sans Black"/>
                <a:ea typeface="Noto Sans Black"/>
                <a:cs typeface="Noto Sans Black"/>
              </a:rPr>
              <a:t>build the deck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4069080"/>
            <a:ext cx="9509760" cy="123444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15000"/>
              </a:lnSpc>
            </a:pPr>
            <a:r>
              <a:rPr sz="2000" b="0">
                <a:solidFill>
                  <a:srgbClr val="F8F0E4"/>
                </a:solidFill>
                <a:latin typeface="Noto Sans"/>
                <a:ea typeface="Noto Sans"/>
                <a:cs typeface="Noto Sans"/>
              </a:rPr>
              <a:t>A home for shared helpers, plus the MCP that turns a brief into slides. This file is one of those slides.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66928" y="6446520"/>
            <a:ext cx="8778240" cy="256032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00000"/>
              </a:lnSpc>
            </a:pPr>
            <a:r>
              <a:rPr sz="1100" b="0">
                <a:solidFill>
                  <a:srgbClr val="F8F0E4"/>
                </a:solidFill>
                <a:latin typeface="Noto Sans"/>
                <a:ea typeface="Noto Sans"/>
                <a:cs typeface="Noto Sans"/>
              </a:rPr>
              <a:t>Independent Wetland project  ·  Not official WaterAid guidance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509760" y="6446520"/>
            <a:ext cx="2103120" cy="256032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ctr">
              <a:lnSpc>
                <a:spcPct val="100000"/>
              </a:lnSpc>
            </a:pPr>
            <a:r>
              <a:rPr sz="1100" b="0">
                <a:solidFill>
                  <a:srgbClr val="F8F0E4"/>
                </a:solidFill>
                <a:latin typeface="Noto Sans"/>
                <a:ea typeface="Noto Sans"/>
                <a:cs typeface="Noto Sans"/>
              </a:rPr>
              <a:t>01  /  08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0E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006BD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6928" y="438912"/>
            <a:ext cx="9144000" cy="292608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006BD9"/>
                </a:solidFill>
                <a:latin typeface="Noto Sans"/>
                <a:ea typeface="Noto Sans"/>
                <a:cs typeface="Noto Sans"/>
              </a:rPr>
              <a:t>THE GAP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1051560"/>
            <a:ext cx="10789920" cy="210312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98000"/>
              </a:lnSpc>
            </a:pPr>
            <a:r>
              <a:rPr sz="4000" b="0">
                <a:solidFill>
                  <a:srgbClr val="151435"/>
                </a:solidFill>
                <a:latin typeface="Noto Sans Black"/>
                <a:ea typeface="Noto Sans Black"/>
                <a:cs typeface="Noto Sans Black"/>
              </a:rPr>
              <a:t>A clever chat still needs a key to the work.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3337560"/>
            <a:ext cx="1051560" cy="73152"/>
          </a:xfrm>
          <a:prstGeom prst="rect">
            <a:avLst/>
          </a:prstGeom>
          <a:solidFill>
            <a:srgbClr val="D6FF0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66928" y="3657600"/>
            <a:ext cx="10241280" cy="22860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18000"/>
              </a:lnSpc>
            </a:pPr>
            <a:r>
              <a:rPr sz="2200" b="0">
                <a:solidFill>
                  <a:srgbClr val="44435D"/>
                </a:solidFill>
                <a:latin typeface="Noto Sans"/>
                <a:ea typeface="Noto Sans"/>
                <a:cs typeface="Noto Sans"/>
              </a:rPr>
              <a:t>On its own, an assistant does not know Water Care proposals, campaign results, brand rules, or which helpers are approved. An MCP is the adapter: one resource, with the rules built into the plug rather than into the chat.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6446520"/>
            <a:ext cx="8778240" cy="256032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00000"/>
              </a:lnSpc>
            </a:pPr>
            <a:r>
              <a:rPr sz="1100" b="0">
                <a:solidFill>
                  <a:srgbClr val="44435D"/>
                </a:solidFill>
                <a:latin typeface="Noto Sans"/>
                <a:ea typeface="Noto Sans"/>
                <a:cs typeface="Noto Sans"/>
              </a:rPr>
              <a:t>Independent Wetland project  ·  Not official WaterAid guidance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509760" y="6446520"/>
            <a:ext cx="2103120" cy="256032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ctr">
              <a:lnSpc>
                <a:spcPct val="100000"/>
              </a:lnSpc>
            </a:pPr>
            <a:r>
              <a:rPr sz="1100" b="0">
                <a:solidFill>
                  <a:srgbClr val="44435D"/>
                </a:solidFill>
                <a:latin typeface="Noto Sans"/>
                <a:ea typeface="Noto Sans"/>
                <a:cs typeface="Noto Sans"/>
              </a:rPr>
              <a:t>02  /  08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8016" cy="6858000"/>
          </a:xfrm>
          <a:prstGeom prst="rect">
            <a:avLst/>
          </a:prstGeom>
          <a:solidFill>
            <a:srgbClr val="006BD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6928" y="384048"/>
            <a:ext cx="9144000" cy="292608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006BD9"/>
                </a:solidFill>
                <a:latin typeface="Noto Sans"/>
                <a:ea typeface="Noto Sans"/>
                <a:cs typeface="Noto Sans"/>
              </a:rPr>
              <a:t>THE MARKETPLACE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749808"/>
            <a:ext cx="10972800" cy="123444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98000"/>
              </a:lnSpc>
            </a:pPr>
            <a:r>
              <a:rPr sz="3400" b="0">
                <a:solidFill>
                  <a:srgbClr val="151435"/>
                </a:solidFill>
                <a:latin typeface="Noto Sans Black"/>
                <a:ea typeface="Noto Sans Black"/>
                <a:cs typeface="Noto Sans Black"/>
              </a:rPr>
              <a:t>Find a capability. Open the approved agent.</a:t>
            </a:r>
          </a:p>
        </p:txBody>
      </p:sp>
      <p:sp>
        <p:nvSpPr>
          <p:cNvPr id="6" name="Rectangle 5"/>
          <p:cNvSpPr/>
          <p:nvPr/>
        </p:nvSpPr>
        <p:spPr>
          <a:xfrm>
            <a:off x="603504" y="2267712"/>
            <a:ext cx="146304" cy="146304"/>
          </a:xfrm>
          <a:prstGeom prst="rect">
            <a:avLst/>
          </a:prstGeom>
          <a:solidFill>
            <a:srgbClr val="D6FF0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60120" y="2139696"/>
            <a:ext cx="10424160" cy="658368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05000"/>
              </a:lnSpc>
            </a:pPr>
            <a:r>
              <a:rPr sz="2000" b="0">
                <a:solidFill>
                  <a:srgbClr val="44435D"/>
                </a:solidFill>
                <a:latin typeface="Noto Sans"/>
                <a:ea typeface="Noto Sans"/>
                <a:cs typeface="Noto Sans"/>
              </a:rPr>
              <a:t>Browse Wetland by task and try the synthetic Growth demo.</a:t>
            </a:r>
          </a:p>
        </p:txBody>
      </p:sp>
      <p:sp>
        <p:nvSpPr>
          <p:cNvPr id="8" name="Rectangle 7"/>
          <p:cNvSpPr/>
          <p:nvPr/>
        </p:nvSpPr>
        <p:spPr>
          <a:xfrm>
            <a:off x="603504" y="3108960"/>
            <a:ext cx="146304" cy="146304"/>
          </a:xfrm>
          <a:prstGeom prst="rect">
            <a:avLst/>
          </a:prstGeom>
          <a:solidFill>
            <a:srgbClr val="D6FF0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60120" y="2980944"/>
            <a:ext cx="10424160" cy="658368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05000"/>
              </a:lnSpc>
            </a:pPr>
            <a:r>
              <a:rPr sz="2000" b="0">
                <a:solidFill>
                  <a:srgbClr val="44435D"/>
                </a:solidFill>
                <a:latin typeface="Noto Sans"/>
                <a:ea typeface="Noto Sans"/>
                <a:cs typeface="Noto Sans"/>
              </a:rPr>
              <a:t>Open the approved Copilot agent after IT configures its MCP connections.</a:t>
            </a:r>
          </a:p>
        </p:txBody>
      </p:sp>
      <p:sp>
        <p:nvSpPr>
          <p:cNvPr id="10" name="Rectangle 9"/>
          <p:cNvSpPr/>
          <p:nvPr/>
        </p:nvSpPr>
        <p:spPr>
          <a:xfrm>
            <a:off x="603504" y="3950208"/>
            <a:ext cx="146304" cy="146304"/>
          </a:xfrm>
          <a:prstGeom prst="rect">
            <a:avLst/>
          </a:prstGeom>
          <a:solidFill>
            <a:srgbClr val="D6FF0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60120" y="3822192"/>
            <a:ext cx="10424160" cy="658368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05000"/>
              </a:lnSpc>
            </a:pPr>
            <a:r>
              <a:rPr sz="2000" b="0">
                <a:solidFill>
                  <a:srgbClr val="44435D"/>
                </a:solidFill>
                <a:latin typeface="Noto Sans"/>
                <a:ea typeface="Noto Sans"/>
                <a:cs typeface="Noto Sans"/>
              </a:rPr>
              <a:t>Copy the example prompt. Pasting an MCP URL alone does not connect Copilot.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03504" y="4791456"/>
            <a:ext cx="146304" cy="146304"/>
          </a:xfrm>
          <a:prstGeom prst="rect">
            <a:avLst/>
          </a:prstGeom>
          <a:solidFill>
            <a:srgbClr val="D6FF0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60120" y="4663440"/>
            <a:ext cx="10424160" cy="658368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05000"/>
              </a:lnSpc>
            </a:pPr>
            <a:r>
              <a:rPr sz="2000" b="0">
                <a:solidFill>
                  <a:srgbClr val="44435D"/>
                </a:solidFill>
                <a:latin typeface="Noto Sans"/>
                <a:ea typeface="Noto Sans"/>
                <a:cs typeface="Noto Sans"/>
              </a:rPr>
              <a:t>Review the report, source and definition before sharing.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66928" y="6446520"/>
            <a:ext cx="8778240" cy="256032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00000"/>
              </a:lnSpc>
            </a:pPr>
            <a:r>
              <a:rPr sz="1100" b="0">
                <a:solidFill>
                  <a:srgbClr val="44435D"/>
                </a:solidFill>
                <a:latin typeface="Noto Sans"/>
                <a:ea typeface="Noto Sans"/>
                <a:cs typeface="Noto Sans"/>
              </a:rPr>
              <a:t>Independent Wetland project  ·  Not official WaterAid guidance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509760" y="6446520"/>
            <a:ext cx="2103120" cy="256032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ctr">
              <a:lnSpc>
                <a:spcPct val="100000"/>
              </a:lnSpc>
            </a:pPr>
            <a:r>
              <a:rPr sz="1100" b="0">
                <a:solidFill>
                  <a:srgbClr val="44435D"/>
                </a:solidFill>
                <a:latin typeface="Noto Sans"/>
                <a:ea typeface="Noto Sans"/>
                <a:cs typeface="Noto Sans"/>
              </a:rPr>
              <a:t>03  /  08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0E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292608"/>
            <a:ext cx="9144000" cy="292608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006BD9"/>
                </a:solidFill>
                <a:latin typeface="Noto Sans"/>
                <a:ea typeface="Noto Sans"/>
                <a:cs typeface="Noto Sans"/>
              </a:rPr>
              <a:t>ON THE SHELF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603504"/>
            <a:ext cx="10972800" cy="82296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00000"/>
              </a:lnSpc>
            </a:pPr>
            <a:r>
              <a:rPr sz="3200" b="0">
                <a:solidFill>
                  <a:srgbClr val="151435"/>
                </a:solidFill>
                <a:latin typeface="Noto Sans Black"/>
                <a:ea typeface="Noto Sans Black"/>
                <a:cs typeface="Noto Sans Black"/>
              </a:rPr>
              <a:t>Brand and Growth are live demos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66928" y="1691640"/>
            <a:ext cx="2654731" cy="193852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94944" y="1947672"/>
            <a:ext cx="64008" cy="1426464"/>
          </a:xfrm>
          <a:prstGeom prst="rect">
            <a:avLst/>
          </a:prstGeom>
          <a:solidFill>
            <a:srgbClr val="006BD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768096" y="1874520"/>
            <a:ext cx="1207008" cy="292608"/>
          </a:xfrm>
          <a:prstGeom prst="roundRect">
            <a:avLst>
              <a:gd name="adj" fmla="val 40000"/>
            </a:avLst>
          </a:prstGeom>
          <a:solidFill>
            <a:srgbClr val="D6FF00"/>
          </a:solidFill>
          <a:ln>
            <a:noFill/>
          </a:ln>
        </p:spPr>
        <p:txBody>
          <a:bodyPr rtlCol="0" anchor="ctr" wrap="none"/>
          <a:lstStyle/>
          <a:p>
            <a:pPr algn="ctr"/>
            <a:r>
              <a:rPr sz="1000" b="1">
                <a:solidFill>
                  <a:srgbClr val="151435"/>
                </a:solidFill>
                <a:latin typeface="Noto Sans"/>
                <a:ea typeface="Noto Sans"/>
                <a:cs typeface="Noto Sans"/>
              </a:rPr>
              <a:t>LIVE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68096" y="2313432"/>
            <a:ext cx="2307259" cy="77724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95000"/>
              </a:lnSpc>
            </a:pPr>
            <a:r>
              <a:rPr sz="1500" b="0">
                <a:solidFill>
                  <a:srgbClr val="151435"/>
                </a:solidFill>
                <a:latin typeface="Noto Sans Black"/>
                <a:ea typeface="Noto Sans Black"/>
                <a:cs typeface="Noto Sans Black"/>
              </a:rPr>
              <a:t>Brand &amp; design system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68096" y="3136392"/>
            <a:ext cx="2307259" cy="329184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00000"/>
              </a:lnSpc>
            </a:pPr>
            <a:r>
              <a:rPr sz="1100" b="0">
                <a:solidFill>
                  <a:srgbClr val="44435D"/>
                </a:solidFill>
                <a:latin typeface="Noto Sans"/>
                <a:ea typeface="Noto Sans"/>
                <a:cs typeface="Noto Sans"/>
              </a:rPr>
              <a:t>Knowledge &amp; brand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367963" y="1691640"/>
            <a:ext cx="2654731" cy="193852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3495979" y="1947672"/>
            <a:ext cx="64008" cy="1426464"/>
          </a:xfrm>
          <a:prstGeom prst="rect">
            <a:avLst/>
          </a:prstGeom>
          <a:solidFill>
            <a:srgbClr val="006BD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3569131" y="1874520"/>
            <a:ext cx="1207008" cy="292608"/>
          </a:xfrm>
          <a:prstGeom prst="roundRect">
            <a:avLst>
              <a:gd name="adj" fmla="val 40000"/>
            </a:avLst>
          </a:prstGeom>
          <a:solidFill>
            <a:srgbClr val="D6FF00"/>
          </a:solidFill>
          <a:ln>
            <a:noFill/>
          </a:ln>
        </p:spPr>
        <p:txBody>
          <a:bodyPr rtlCol="0" anchor="ctr" wrap="none"/>
          <a:lstStyle/>
          <a:p>
            <a:pPr algn="ctr"/>
            <a:r>
              <a:rPr sz="1000" b="1">
                <a:solidFill>
                  <a:srgbClr val="151435"/>
                </a:solidFill>
                <a:latin typeface="Noto Sans"/>
                <a:ea typeface="Noto Sans"/>
                <a:cs typeface="Noto Sans"/>
              </a:rPr>
              <a:t>LIVE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569131" y="2313432"/>
            <a:ext cx="2307259" cy="77724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95000"/>
              </a:lnSpc>
            </a:pPr>
            <a:r>
              <a:rPr sz="1500" b="0">
                <a:solidFill>
                  <a:srgbClr val="151435"/>
                </a:solidFill>
                <a:latin typeface="Noto Sans Black"/>
                <a:ea typeface="Noto Sans Black"/>
                <a:cs typeface="Noto Sans Black"/>
              </a:rPr>
              <a:t>Growth KPI reporting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569131" y="3136392"/>
            <a:ext cx="2307259" cy="329184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00000"/>
              </a:lnSpc>
            </a:pPr>
            <a:r>
              <a:rPr sz="1100" b="0">
                <a:solidFill>
                  <a:srgbClr val="44435D"/>
                </a:solidFill>
                <a:latin typeface="Noto Sans"/>
                <a:ea typeface="Noto Sans"/>
                <a:cs typeface="Noto Sans"/>
              </a:rPr>
              <a:t>Synthetic donor reporting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168999" y="1691640"/>
            <a:ext cx="2654731" cy="193852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6370167" y="1874520"/>
            <a:ext cx="1207008" cy="292608"/>
          </a:xfrm>
          <a:prstGeom prst="roundRect">
            <a:avLst>
              <a:gd name="adj" fmla="val 40000"/>
            </a:avLst>
          </a:prstGeom>
          <a:solidFill>
            <a:srgbClr val="E7EEF6"/>
          </a:solidFill>
          <a:ln>
            <a:noFill/>
          </a:ln>
        </p:spPr>
        <p:txBody>
          <a:bodyPr rtlCol="0" anchor="ctr" wrap="none"/>
          <a:lstStyle/>
          <a:p>
            <a:pPr algn="ctr"/>
            <a:r>
              <a:rPr sz="1000" b="1">
                <a:solidFill>
                  <a:srgbClr val="44435D"/>
                </a:solidFill>
                <a:latin typeface="Noto Sans"/>
                <a:ea typeface="Noto Sans"/>
                <a:cs typeface="Noto Sans"/>
              </a:rPr>
              <a:t>CONCEPT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370167" y="2313432"/>
            <a:ext cx="2307259" cy="77724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95000"/>
              </a:lnSpc>
            </a:pPr>
            <a:r>
              <a:rPr sz="1500" b="0">
                <a:solidFill>
                  <a:srgbClr val="151435"/>
                </a:solidFill>
                <a:latin typeface="Noto Sans Black"/>
                <a:ea typeface="Noto Sans Black"/>
                <a:cs typeface="Noto Sans Black"/>
              </a:rPr>
              <a:t>Programme reporting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370167" y="3136392"/>
            <a:ext cx="2307259" cy="329184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00000"/>
              </a:lnSpc>
            </a:pPr>
            <a:r>
              <a:rPr sz="1100" b="0">
                <a:solidFill>
                  <a:srgbClr val="44435D"/>
                </a:solidFill>
                <a:latin typeface="Noto Sans"/>
                <a:ea typeface="Noto Sans"/>
                <a:cs typeface="Noto Sans"/>
              </a:rPr>
              <a:t>International Programmes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8970035" y="1691640"/>
            <a:ext cx="2654731" cy="193852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9171203" y="1874520"/>
            <a:ext cx="1207008" cy="292608"/>
          </a:xfrm>
          <a:prstGeom prst="roundRect">
            <a:avLst>
              <a:gd name="adj" fmla="val 40000"/>
            </a:avLst>
          </a:prstGeom>
          <a:solidFill>
            <a:srgbClr val="E7EEF6"/>
          </a:solidFill>
          <a:ln>
            <a:noFill/>
          </a:ln>
        </p:spPr>
        <p:txBody>
          <a:bodyPr rtlCol="0" anchor="ctr" wrap="none"/>
          <a:lstStyle/>
          <a:p>
            <a:pPr algn="ctr"/>
            <a:r>
              <a:rPr sz="1000" b="1">
                <a:solidFill>
                  <a:srgbClr val="44435D"/>
                </a:solidFill>
                <a:latin typeface="Noto Sans"/>
                <a:ea typeface="Noto Sans"/>
                <a:cs typeface="Noto Sans"/>
              </a:rPr>
              <a:t>CONCEPT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171203" y="2313432"/>
            <a:ext cx="2307259" cy="77724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95000"/>
              </a:lnSpc>
            </a:pPr>
            <a:r>
              <a:rPr sz="1500" b="0">
                <a:solidFill>
                  <a:srgbClr val="151435"/>
                </a:solidFill>
                <a:latin typeface="Noto Sans Black"/>
                <a:ea typeface="Noto Sans Black"/>
                <a:cs typeface="Noto Sans Black"/>
              </a:rPr>
              <a:t>Supporter care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171203" y="3136392"/>
            <a:ext cx="2307259" cy="329184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00000"/>
              </a:lnSpc>
            </a:pPr>
            <a:r>
              <a:rPr sz="1100" b="0">
                <a:solidFill>
                  <a:srgbClr val="44435D"/>
                </a:solidFill>
                <a:latin typeface="Noto Sans"/>
                <a:ea typeface="Noto Sans"/>
                <a:cs typeface="Noto Sans"/>
              </a:rPr>
              <a:t>Supporter Care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566928" y="3776472"/>
            <a:ext cx="2654731" cy="193852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4" name="Rounded Rectangle 23"/>
          <p:cNvSpPr/>
          <p:nvPr/>
        </p:nvSpPr>
        <p:spPr>
          <a:xfrm>
            <a:off x="768096" y="3959352"/>
            <a:ext cx="1207008" cy="292608"/>
          </a:xfrm>
          <a:prstGeom prst="roundRect">
            <a:avLst>
              <a:gd name="adj" fmla="val 40000"/>
            </a:avLst>
          </a:prstGeom>
          <a:solidFill>
            <a:srgbClr val="E7EEF6"/>
          </a:solidFill>
          <a:ln>
            <a:noFill/>
          </a:ln>
        </p:spPr>
        <p:txBody>
          <a:bodyPr rtlCol="0" anchor="ctr" wrap="none"/>
          <a:lstStyle/>
          <a:p>
            <a:pPr algn="ctr"/>
            <a:r>
              <a:rPr sz="1000" b="1">
                <a:solidFill>
                  <a:srgbClr val="44435D"/>
                </a:solidFill>
                <a:latin typeface="Noto Sans"/>
                <a:ea typeface="Noto Sans"/>
                <a:cs typeface="Noto Sans"/>
              </a:rPr>
              <a:t>CONCEPT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68096" y="4398264"/>
            <a:ext cx="2307259" cy="77724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95000"/>
              </a:lnSpc>
            </a:pPr>
            <a:r>
              <a:rPr sz="1500" b="0">
                <a:solidFill>
                  <a:srgbClr val="151435"/>
                </a:solidFill>
                <a:latin typeface="Noto Sans Black"/>
                <a:ea typeface="Noto Sans Black"/>
                <a:cs typeface="Noto Sans Black"/>
              </a:rPr>
              <a:t>Water point insights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68096" y="5221224"/>
            <a:ext cx="2307259" cy="329184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00000"/>
              </a:lnSpc>
            </a:pPr>
            <a:r>
              <a:rPr sz="1100" b="0">
                <a:solidFill>
                  <a:srgbClr val="44435D"/>
                </a:solidFill>
                <a:latin typeface="Noto Sans"/>
                <a:ea typeface="Noto Sans"/>
                <a:cs typeface="Noto Sans"/>
              </a:rPr>
              <a:t>Programme &amp; MERL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3367963" y="3776472"/>
            <a:ext cx="2654731" cy="193852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8" name="Rounded Rectangle 27"/>
          <p:cNvSpPr/>
          <p:nvPr/>
        </p:nvSpPr>
        <p:spPr>
          <a:xfrm>
            <a:off x="3569131" y="3959352"/>
            <a:ext cx="1207008" cy="292608"/>
          </a:xfrm>
          <a:prstGeom prst="roundRect">
            <a:avLst>
              <a:gd name="adj" fmla="val 40000"/>
            </a:avLst>
          </a:prstGeom>
          <a:solidFill>
            <a:srgbClr val="E7EEF6"/>
          </a:solidFill>
          <a:ln>
            <a:noFill/>
          </a:ln>
        </p:spPr>
        <p:txBody>
          <a:bodyPr rtlCol="0" anchor="ctr" wrap="none"/>
          <a:lstStyle/>
          <a:p>
            <a:pPr algn="ctr"/>
            <a:r>
              <a:rPr sz="1000" b="1">
                <a:solidFill>
                  <a:srgbClr val="44435D"/>
                </a:solidFill>
                <a:latin typeface="Noto Sans"/>
                <a:ea typeface="Noto Sans"/>
                <a:cs typeface="Noto Sans"/>
              </a:rPr>
              <a:t>CONCEPT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569131" y="4398264"/>
            <a:ext cx="2307259" cy="77724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95000"/>
              </a:lnSpc>
            </a:pPr>
            <a:r>
              <a:rPr sz="1500" b="0">
                <a:solidFill>
                  <a:srgbClr val="151435"/>
                </a:solidFill>
                <a:latin typeface="Noto Sans Black"/>
                <a:ea typeface="Noto Sans Black"/>
                <a:cs typeface="Noto Sans Black"/>
              </a:rPr>
              <a:t>Fundraising intelligence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569131" y="5221224"/>
            <a:ext cx="2307259" cy="329184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00000"/>
              </a:lnSpc>
            </a:pPr>
            <a:r>
              <a:rPr sz="1100" b="0">
                <a:solidFill>
                  <a:srgbClr val="44435D"/>
                </a:solidFill>
                <a:latin typeface="Noto Sans"/>
                <a:ea typeface="Noto Sans"/>
                <a:cs typeface="Noto Sans"/>
              </a:rPr>
              <a:t>Fundraising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6168999" y="3776472"/>
            <a:ext cx="2654731" cy="193852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2" name="Rounded Rectangle 31"/>
          <p:cNvSpPr/>
          <p:nvPr/>
        </p:nvSpPr>
        <p:spPr>
          <a:xfrm>
            <a:off x="6370167" y="3959352"/>
            <a:ext cx="1207008" cy="292608"/>
          </a:xfrm>
          <a:prstGeom prst="roundRect">
            <a:avLst>
              <a:gd name="adj" fmla="val 40000"/>
            </a:avLst>
          </a:prstGeom>
          <a:solidFill>
            <a:srgbClr val="E7EEF6"/>
          </a:solidFill>
          <a:ln>
            <a:noFill/>
          </a:ln>
        </p:spPr>
        <p:txBody>
          <a:bodyPr rtlCol="0" anchor="ctr" wrap="none"/>
          <a:lstStyle/>
          <a:p>
            <a:pPr algn="ctr"/>
            <a:r>
              <a:rPr sz="1000" b="1">
                <a:solidFill>
                  <a:srgbClr val="44435D"/>
                </a:solidFill>
                <a:latin typeface="Noto Sans"/>
                <a:ea typeface="Noto Sans"/>
                <a:cs typeface="Noto Sans"/>
              </a:rPr>
              <a:t>CONCEPT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370167" y="4398264"/>
            <a:ext cx="2307259" cy="77724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95000"/>
              </a:lnSpc>
            </a:pPr>
            <a:r>
              <a:rPr sz="1500" b="0">
                <a:solidFill>
                  <a:srgbClr val="151435"/>
                </a:solidFill>
                <a:latin typeface="Noto Sans Black"/>
                <a:ea typeface="Noto Sans Black"/>
                <a:cs typeface="Noto Sans Black"/>
              </a:rPr>
              <a:t>Grant reconciliation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370167" y="5221224"/>
            <a:ext cx="2307259" cy="329184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00000"/>
              </a:lnSpc>
            </a:pPr>
            <a:r>
              <a:rPr sz="1100" b="0">
                <a:solidFill>
                  <a:srgbClr val="44435D"/>
                </a:solidFill>
                <a:latin typeface="Noto Sans"/>
                <a:ea typeface="Noto Sans"/>
                <a:cs typeface="Noto Sans"/>
              </a:rPr>
              <a:t>Grants Finance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8970035" y="3776472"/>
            <a:ext cx="2654731" cy="193852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6" name="Rounded Rectangle 35"/>
          <p:cNvSpPr/>
          <p:nvPr/>
        </p:nvSpPr>
        <p:spPr>
          <a:xfrm>
            <a:off x="9171203" y="3959352"/>
            <a:ext cx="1207008" cy="292608"/>
          </a:xfrm>
          <a:prstGeom prst="roundRect">
            <a:avLst>
              <a:gd name="adj" fmla="val 40000"/>
            </a:avLst>
          </a:prstGeom>
          <a:solidFill>
            <a:srgbClr val="E7EEF6"/>
          </a:solidFill>
          <a:ln>
            <a:noFill/>
          </a:ln>
        </p:spPr>
        <p:txBody>
          <a:bodyPr rtlCol="0" anchor="ctr" wrap="none"/>
          <a:lstStyle/>
          <a:p>
            <a:pPr algn="ctr"/>
            <a:r>
              <a:rPr sz="1000" b="1">
                <a:solidFill>
                  <a:srgbClr val="44435D"/>
                </a:solidFill>
                <a:latin typeface="Noto Sans"/>
                <a:ea typeface="Noto Sans"/>
                <a:cs typeface="Noto Sans"/>
              </a:rPr>
              <a:t>CONCEPT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9171203" y="4398264"/>
            <a:ext cx="2307259" cy="77724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95000"/>
              </a:lnSpc>
            </a:pPr>
            <a:r>
              <a:rPr sz="1500" b="0">
                <a:solidFill>
                  <a:srgbClr val="151435"/>
                </a:solidFill>
                <a:latin typeface="Noto Sans Black"/>
                <a:ea typeface="Noto Sans Black"/>
                <a:cs typeface="Noto Sans Black"/>
              </a:rPr>
              <a:t>Policy &amp; evidence library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9171203" y="5221224"/>
            <a:ext cx="2307259" cy="329184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00000"/>
              </a:lnSpc>
            </a:pPr>
            <a:r>
              <a:rPr sz="1100" b="0">
                <a:solidFill>
                  <a:srgbClr val="44435D"/>
                </a:solidFill>
                <a:latin typeface="Noto Sans"/>
                <a:ea typeface="Noto Sans"/>
                <a:cs typeface="Noto Sans"/>
              </a:rPr>
              <a:t>Policy &amp; Advocacy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66928" y="6446520"/>
            <a:ext cx="8778240" cy="256032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00000"/>
              </a:lnSpc>
            </a:pPr>
            <a:r>
              <a:rPr sz="1100" b="0">
                <a:solidFill>
                  <a:srgbClr val="44435D"/>
                </a:solidFill>
                <a:latin typeface="Noto Sans"/>
                <a:ea typeface="Noto Sans"/>
                <a:cs typeface="Noto Sans"/>
              </a:rPr>
              <a:t>Independent Wetland project  ·  Not official WaterAid guidance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9509760" y="6446520"/>
            <a:ext cx="2103120" cy="256032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ctr">
              <a:lnSpc>
                <a:spcPct val="100000"/>
              </a:lnSpc>
            </a:pPr>
            <a:r>
              <a:rPr sz="1100" b="0">
                <a:solidFill>
                  <a:srgbClr val="44435D"/>
                </a:solidFill>
                <a:latin typeface="Noto Sans"/>
                <a:ea typeface="Noto Sans"/>
                <a:cs typeface="Noto Sans"/>
              </a:rPr>
              <a:t>04  /  08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8016" cy="6858000"/>
          </a:xfrm>
          <a:prstGeom prst="rect">
            <a:avLst/>
          </a:prstGeom>
          <a:solidFill>
            <a:srgbClr val="006BD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6928" y="384048"/>
            <a:ext cx="9144000" cy="292608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006BD9"/>
                </a:solidFill>
                <a:latin typeface="Noto Sans"/>
                <a:ea typeface="Noto Sans"/>
                <a:cs typeface="Noto Sans"/>
              </a:rPr>
              <a:t>THE DECK MCP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749808"/>
            <a:ext cx="10972800" cy="123444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98000"/>
              </a:lnSpc>
            </a:pPr>
            <a:r>
              <a:rPr sz="3400" b="0">
                <a:solidFill>
                  <a:srgbClr val="151435"/>
                </a:solidFill>
                <a:latin typeface="Noto Sans Black"/>
                <a:ea typeface="Noto Sans Black"/>
                <a:cs typeface="Noto Sans Black"/>
              </a:rPr>
              <a:t>We built the MCP that builds the deck.</a:t>
            </a:r>
          </a:p>
        </p:txBody>
      </p:sp>
      <p:sp>
        <p:nvSpPr>
          <p:cNvPr id="6" name="Rectangle 5"/>
          <p:cNvSpPr/>
          <p:nvPr/>
        </p:nvSpPr>
        <p:spPr>
          <a:xfrm>
            <a:off x="603504" y="2267712"/>
            <a:ext cx="146304" cy="146304"/>
          </a:xfrm>
          <a:prstGeom prst="rect">
            <a:avLst/>
          </a:prstGeom>
          <a:solidFill>
            <a:srgbClr val="D6FF0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60120" y="2139696"/>
            <a:ext cx="10424160" cy="658368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05000"/>
              </a:lnSpc>
            </a:pPr>
            <a:r>
              <a:rPr sz="2000" b="0">
                <a:solidFill>
                  <a:srgbClr val="44435D"/>
                </a:solidFill>
                <a:latin typeface="Noto Sans"/>
                <a:ea typeface="Noto Sans"/>
                <a:cs typeface="Noto Sans"/>
              </a:rPr>
              <a:t>An agent sends a brief to the locally run Deck MCP.</a:t>
            </a:r>
          </a:p>
        </p:txBody>
      </p:sp>
      <p:sp>
        <p:nvSpPr>
          <p:cNvPr id="8" name="Rectangle 7"/>
          <p:cNvSpPr/>
          <p:nvPr/>
        </p:nvSpPr>
        <p:spPr>
          <a:xfrm>
            <a:off x="603504" y="3108960"/>
            <a:ext cx="146304" cy="146304"/>
          </a:xfrm>
          <a:prstGeom prst="rect">
            <a:avLst/>
          </a:prstGeom>
          <a:solidFill>
            <a:srgbClr val="D6FF0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60120" y="2980944"/>
            <a:ext cx="10424160" cy="658368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05000"/>
              </a:lnSpc>
            </a:pPr>
            <a:r>
              <a:rPr sz="2000" b="0">
                <a:solidFill>
                  <a:srgbClr val="44435D"/>
                </a:solidFill>
                <a:latin typeface="Noto Sans"/>
                <a:ea typeface="Noto Sans"/>
                <a:cs typeface="Noto Sans"/>
              </a:rPr>
              <a:t>build_deck asks the Brand MCP for colour, type, and the wordmark.</a:t>
            </a:r>
          </a:p>
        </p:txBody>
      </p:sp>
      <p:sp>
        <p:nvSpPr>
          <p:cNvPr id="10" name="Rectangle 9"/>
          <p:cNvSpPr/>
          <p:nvPr/>
        </p:nvSpPr>
        <p:spPr>
          <a:xfrm>
            <a:off x="603504" y="3950208"/>
            <a:ext cx="146304" cy="146304"/>
          </a:xfrm>
          <a:prstGeom prst="rect">
            <a:avLst/>
          </a:prstGeom>
          <a:solidFill>
            <a:srgbClr val="D6FF0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60120" y="3822192"/>
            <a:ext cx="10424160" cy="658368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05000"/>
              </a:lnSpc>
            </a:pPr>
            <a:r>
              <a:rPr sz="2000" b="0">
                <a:solidFill>
                  <a:srgbClr val="44435D"/>
                </a:solidFill>
                <a:latin typeface="Noto Sans"/>
                <a:ea typeface="Noto Sans"/>
                <a:cs typeface="Noto Sans"/>
              </a:rPr>
              <a:t>The tool returns a 16:9 PowerPoint a person can open and edit.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03504" y="4791456"/>
            <a:ext cx="146304" cy="146304"/>
          </a:xfrm>
          <a:prstGeom prst="rect">
            <a:avLst/>
          </a:prstGeom>
          <a:solidFill>
            <a:srgbClr val="D6FF0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60120" y="4663440"/>
            <a:ext cx="10424160" cy="658368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05000"/>
              </a:lnSpc>
            </a:pPr>
            <a:r>
              <a:rPr sz="2000" b="0">
                <a:solidFill>
                  <a:srgbClr val="44435D"/>
                </a:solidFill>
                <a:latin typeface="Noto Sans"/>
                <a:ea typeface="Noto Sans"/>
                <a:cs typeface="Noto Sans"/>
              </a:rPr>
              <a:t>The person who presents it still owns every claim on the slide.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66928" y="6446520"/>
            <a:ext cx="8778240" cy="256032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00000"/>
              </a:lnSpc>
            </a:pPr>
            <a:r>
              <a:rPr sz="1100" b="0">
                <a:solidFill>
                  <a:srgbClr val="44435D"/>
                </a:solidFill>
                <a:latin typeface="Noto Sans"/>
                <a:ea typeface="Noto Sans"/>
                <a:cs typeface="Noto Sans"/>
              </a:rPr>
              <a:t>Independent Wetland project  ·  Not official WaterAid guidance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509760" y="6446520"/>
            <a:ext cx="2103120" cy="256032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ctr">
              <a:lnSpc>
                <a:spcPct val="100000"/>
              </a:lnSpc>
            </a:pPr>
            <a:r>
              <a:rPr sz="1100" b="0">
                <a:solidFill>
                  <a:srgbClr val="44435D"/>
                </a:solidFill>
                <a:latin typeface="Noto Sans"/>
                <a:ea typeface="Noto Sans"/>
                <a:cs typeface="Noto Sans"/>
              </a:rPr>
              <a:t>05  /  08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006BD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6928" y="384048"/>
            <a:ext cx="9144000" cy="292608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006BD9"/>
                </a:solidFill>
                <a:latin typeface="Noto Sans"/>
                <a:ea typeface="Noto Sans"/>
                <a:cs typeface="Noto Sans"/>
              </a:rPr>
              <a:t>THIS FILE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768096"/>
            <a:ext cx="10972800" cy="109728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00000"/>
              </a:lnSpc>
            </a:pPr>
            <a:r>
              <a:rPr sz="3600" b="0">
                <a:solidFill>
                  <a:srgbClr val="151435"/>
                </a:solidFill>
                <a:latin typeface="Noto Sans Black"/>
                <a:ea typeface="Noto Sans Black"/>
                <a:cs typeface="Noto Sans Black"/>
              </a:rPr>
              <a:t>You are looking at an MCP output.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66928" y="2331720"/>
            <a:ext cx="3551834" cy="2880360"/>
          </a:xfrm>
          <a:prstGeom prst="roundRect">
            <a:avLst>
              <a:gd name="adj" fmla="val 6000"/>
            </a:avLst>
          </a:prstGeom>
          <a:solidFill>
            <a:srgbClr val="F8F0E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31520" y="2478024"/>
            <a:ext cx="3222650" cy="73152"/>
          </a:xfrm>
          <a:prstGeom prst="rect">
            <a:avLst/>
          </a:prstGeom>
          <a:solidFill>
            <a:srgbClr val="D6FF0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60" y="2624327"/>
            <a:ext cx="3094634" cy="64008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00000"/>
              </a:lnSpc>
            </a:pPr>
            <a:r>
              <a:rPr sz="2800" b="0">
                <a:solidFill>
                  <a:srgbClr val="006BD9"/>
                </a:solidFill>
                <a:latin typeface="Noto Sans Black"/>
                <a:ea typeface="Noto Sans Black"/>
                <a:cs typeface="Noto Sans Black"/>
              </a:rPr>
              <a:t>01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3383279"/>
            <a:ext cx="3094634" cy="64008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00000"/>
              </a:lnSpc>
            </a:pPr>
            <a:r>
              <a:rPr sz="2000" b="0">
                <a:solidFill>
                  <a:srgbClr val="151435"/>
                </a:solidFill>
                <a:latin typeface="Noto Sans Black"/>
                <a:ea typeface="Noto Sans Black"/>
                <a:cs typeface="Noto Sans Black"/>
              </a:rPr>
              <a:t>Read the hub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" y="4114800"/>
            <a:ext cx="3039770" cy="118872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12000"/>
              </a:lnSpc>
            </a:pPr>
            <a:r>
              <a:rPr sz="1500" b="0">
                <a:solidFill>
                  <a:srgbClr val="44435D"/>
                </a:solidFill>
                <a:latin typeface="Noto Sans"/>
                <a:ea typeface="Noto Sans"/>
                <a:cs typeface="Noto Sans"/>
              </a:rPr>
              <a:t>Find capabilities, demo links and connection instructions in Wetland.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319930" y="2331720"/>
            <a:ext cx="3551834" cy="2880360"/>
          </a:xfrm>
          <a:prstGeom prst="roundRect">
            <a:avLst>
              <a:gd name="adj" fmla="val 6000"/>
            </a:avLst>
          </a:prstGeom>
          <a:solidFill>
            <a:srgbClr val="F8F0E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484522" y="2478024"/>
            <a:ext cx="3222650" cy="73152"/>
          </a:xfrm>
          <a:prstGeom prst="rect">
            <a:avLst/>
          </a:prstGeom>
          <a:solidFill>
            <a:srgbClr val="D6FF0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575962" y="2624327"/>
            <a:ext cx="3094634" cy="64008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00000"/>
              </a:lnSpc>
            </a:pPr>
            <a:r>
              <a:rPr sz="2800" b="0">
                <a:solidFill>
                  <a:srgbClr val="006BD9"/>
                </a:solidFill>
                <a:latin typeface="Noto Sans Black"/>
                <a:ea typeface="Noto Sans Black"/>
                <a:cs typeface="Noto Sans Black"/>
              </a:rPr>
              <a:t>02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5962" y="3383279"/>
            <a:ext cx="3094634" cy="64008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00000"/>
              </a:lnSpc>
            </a:pPr>
            <a:r>
              <a:rPr sz="2000" b="0">
                <a:solidFill>
                  <a:srgbClr val="151435"/>
                </a:solidFill>
                <a:latin typeface="Noto Sans Black"/>
                <a:ea typeface="Noto Sans Black"/>
                <a:cs typeface="Noto Sans Black"/>
              </a:rPr>
              <a:t>Read the brand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75962" y="4114800"/>
            <a:ext cx="3039770" cy="118872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12000"/>
              </a:lnSpc>
            </a:pPr>
            <a:r>
              <a:rPr sz="1500" b="0">
                <a:solidFill>
                  <a:srgbClr val="44435D"/>
                </a:solidFill>
                <a:latin typeface="Noto Sans"/>
                <a:ea typeface="Noto Sans"/>
                <a:cs typeface="Noto Sans"/>
              </a:rPr>
              <a:t>Colour, Noto Sans, and the white wordmark came from the live Brand MCP.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072932" y="2331720"/>
            <a:ext cx="3551834" cy="2880360"/>
          </a:xfrm>
          <a:prstGeom prst="roundRect">
            <a:avLst>
              <a:gd name="adj" fmla="val 6000"/>
            </a:avLst>
          </a:prstGeom>
          <a:solidFill>
            <a:srgbClr val="F8F0E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237524" y="2478024"/>
            <a:ext cx="3222650" cy="73152"/>
          </a:xfrm>
          <a:prstGeom prst="rect">
            <a:avLst/>
          </a:prstGeom>
          <a:solidFill>
            <a:srgbClr val="D6FF0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328964" y="2624327"/>
            <a:ext cx="3094634" cy="64008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00000"/>
              </a:lnSpc>
            </a:pPr>
            <a:r>
              <a:rPr sz="2800" b="0">
                <a:solidFill>
                  <a:srgbClr val="006BD9"/>
                </a:solidFill>
                <a:latin typeface="Noto Sans Black"/>
                <a:ea typeface="Noto Sans Black"/>
                <a:cs typeface="Noto Sans Black"/>
              </a:rPr>
              <a:t>03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328964" y="3383279"/>
            <a:ext cx="3094634" cy="64008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00000"/>
              </a:lnSpc>
            </a:pPr>
            <a:r>
              <a:rPr sz="2000" b="0">
                <a:solidFill>
                  <a:srgbClr val="151435"/>
                </a:solidFill>
                <a:latin typeface="Noto Sans Black"/>
                <a:ea typeface="Noto Sans Black"/>
                <a:cs typeface="Noto Sans Black"/>
              </a:rPr>
              <a:t>build_deck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328964" y="4114800"/>
            <a:ext cx="3039770" cy="118872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12000"/>
              </a:lnSpc>
            </a:pPr>
            <a:r>
              <a:rPr sz="1500" b="0">
                <a:solidFill>
                  <a:srgbClr val="44435D"/>
                </a:solidFill>
                <a:latin typeface="Noto Sans"/>
                <a:ea typeface="Noto Sans"/>
                <a:cs typeface="Noto Sans"/>
              </a:rPr>
              <a:t>The Deck MCP composed these slides. This deck was built with an MCP too.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66928" y="6446520"/>
            <a:ext cx="8778240" cy="256032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00000"/>
              </a:lnSpc>
            </a:pPr>
            <a:r>
              <a:rPr sz="1100" b="0">
                <a:solidFill>
                  <a:srgbClr val="44435D"/>
                </a:solidFill>
                <a:latin typeface="Noto Sans"/>
                <a:ea typeface="Noto Sans"/>
                <a:cs typeface="Noto Sans"/>
              </a:rPr>
              <a:t>Independent Wetland project  ·  Not official WaterAid guidance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509760" y="6446520"/>
            <a:ext cx="2103120" cy="256032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ctr">
              <a:lnSpc>
                <a:spcPct val="100000"/>
              </a:lnSpc>
            </a:pPr>
            <a:r>
              <a:rPr sz="1100" b="0">
                <a:solidFill>
                  <a:srgbClr val="44435D"/>
                </a:solidFill>
                <a:latin typeface="Noto Sans"/>
                <a:ea typeface="Noto Sans"/>
                <a:cs typeface="Noto Sans"/>
              </a:rPr>
              <a:t>06  /  08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8016" cy="6858000"/>
          </a:xfrm>
          <a:prstGeom prst="rect">
            <a:avLst/>
          </a:prstGeom>
          <a:solidFill>
            <a:srgbClr val="006BD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6928" y="384048"/>
            <a:ext cx="9144000" cy="292608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006BD9"/>
                </a:solidFill>
                <a:latin typeface="Noto Sans"/>
                <a:ea typeface="Noto Sans"/>
                <a:cs typeface="Noto Sans"/>
              </a:rPr>
              <a:t>WHAT STAYS HUMAN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749808"/>
            <a:ext cx="10972800" cy="123444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98000"/>
              </a:lnSpc>
            </a:pPr>
            <a:r>
              <a:rPr sz="3400" b="0">
                <a:solidFill>
                  <a:srgbClr val="151435"/>
                </a:solidFill>
                <a:latin typeface="Noto Sans Black"/>
                <a:ea typeface="Noto Sans Black"/>
                <a:cs typeface="Noto Sans Black"/>
              </a:rPr>
              <a:t>The layout can be generated.</a:t>
            </a:r>
          </a:p>
          <a:p>
            <a:pPr algn="l">
              <a:lnSpc>
                <a:spcPct val="98000"/>
              </a:lnSpc>
            </a:pPr>
            <a:r>
              <a:rPr sz="3400" b="0">
                <a:solidFill>
                  <a:srgbClr val="151435"/>
                </a:solidFill>
                <a:latin typeface="Noto Sans Black"/>
                <a:ea typeface="Noto Sans Black"/>
                <a:cs typeface="Noto Sans Black"/>
              </a:rPr>
              <a:t>The judgment cannot.</a:t>
            </a:r>
          </a:p>
        </p:txBody>
      </p:sp>
      <p:sp>
        <p:nvSpPr>
          <p:cNvPr id="6" name="Rectangle 5"/>
          <p:cNvSpPr/>
          <p:nvPr/>
        </p:nvSpPr>
        <p:spPr>
          <a:xfrm>
            <a:off x="603504" y="2267712"/>
            <a:ext cx="146304" cy="146304"/>
          </a:xfrm>
          <a:prstGeom prst="rect">
            <a:avLst/>
          </a:prstGeom>
          <a:solidFill>
            <a:srgbClr val="D6FF0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60120" y="2139696"/>
            <a:ext cx="10424160" cy="658368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05000"/>
              </a:lnSpc>
            </a:pPr>
            <a:r>
              <a:rPr sz="2000" b="0">
                <a:solidFill>
                  <a:srgbClr val="44435D"/>
                </a:solidFill>
                <a:latin typeface="Noto Sans"/>
                <a:ea typeface="Noto Sans"/>
                <a:cs typeface="Noto Sans"/>
              </a:rPr>
              <a:t>Numbers for a funder, the board, or the public still need a person.</a:t>
            </a:r>
          </a:p>
        </p:txBody>
      </p:sp>
      <p:sp>
        <p:nvSpPr>
          <p:cNvPr id="8" name="Rectangle 7"/>
          <p:cNvSpPr/>
          <p:nvPr/>
        </p:nvSpPr>
        <p:spPr>
          <a:xfrm>
            <a:off x="603504" y="3108960"/>
            <a:ext cx="146304" cy="146304"/>
          </a:xfrm>
          <a:prstGeom prst="rect">
            <a:avLst/>
          </a:prstGeom>
          <a:solidFill>
            <a:srgbClr val="D6FF0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60120" y="2980944"/>
            <a:ext cx="10424160" cy="658368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05000"/>
              </a:lnSpc>
            </a:pPr>
            <a:r>
              <a:rPr sz="2000" b="0">
                <a:solidFill>
                  <a:srgbClr val="44435D"/>
                </a:solidFill>
                <a:latin typeface="Noto Sans"/>
                <a:ea typeface="Noto Sans"/>
                <a:cs typeface="Noto Sans"/>
              </a:rPr>
              <a:t>Material AI use is disclosed, including in funder text.</a:t>
            </a:r>
          </a:p>
        </p:txBody>
      </p:sp>
      <p:sp>
        <p:nvSpPr>
          <p:cNvPr id="10" name="Rectangle 9"/>
          <p:cNvSpPr/>
          <p:nvPr/>
        </p:nvSpPr>
        <p:spPr>
          <a:xfrm>
            <a:off x="603504" y="3950208"/>
            <a:ext cx="146304" cy="146304"/>
          </a:xfrm>
          <a:prstGeom prst="rect">
            <a:avLst/>
          </a:prstGeom>
          <a:solidFill>
            <a:srgbClr val="D6FF0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60120" y="3822192"/>
            <a:ext cx="10424160" cy="658368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05000"/>
              </a:lnSpc>
            </a:pPr>
            <a:r>
              <a:rPr sz="2000" b="0">
                <a:solidFill>
                  <a:srgbClr val="44435D"/>
                </a:solidFill>
                <a:latin typeface="Noto Sans"/>
                <a:ea typeface="Noto Sans"/>
                <a:cs typeface="Noto Sans"/>
              </a:rPr>
              <a:t>A concept card is not a connection to donor or programme data.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03504" y="4791456"/>
            <a:ext cx="146304" cy="146304"/>
          </a:xfrm>
          <a:prstGeom prst="rect">
            <a:avLst/>
          </a:prstGeom>
          <a:solidFill>
            <a:srgbClr val="D6FF0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60120" y="4663440"/>
            <a:ext cx="10424160" cy="658368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05000"/>
              </a:lnSpc>
            </a:pPr>
            <a:r>
              <a:rPr sz="2000" b="0">
                <a:solidFill>
                  <a:srgbClr val="44435D"/>
                </a:solidFill>
                <a:latin typeface="Noto Sans"/>
                <a:ea typeface="Noto Sans"/>
                <a:cs typeface="Noto Sans"/>
              </a:rPr>
              <a:t>A refusal is the boundary working, not a broken tool.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66928" y="6446520"/>
            <a:ext cx="8778240" cy="256032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00000"/>
              </a:lnSpc>
            </a:pPr>
            <a:r>
              <a:rPr sz="1100" b="0">
                <a:solidFill>
                  <a:srgbClr val="44435D"/>
                </a:solidFill>
                <a:latin typeface="Noto Sans"/>
                <a:ea typeface="Noto Sans"/>
                <a:cs typeface="Noto Sans"/>
              </a:rPr>
              <a:t>Independent Wetland project  ·  Not official WaterAid guidance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509760" y="6446520"/>
            <a:ext cx="2103120" cy="256032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ctr">
              <a:lnSpc>
                <a:spcPct val="100000"/>
              </a:lnSpc>
            </a:pPr>
            <a:r>
              <a:rPr sz="1100" b="0">
                <a:solidFill>
                  <a:srgbClr val="44435D"/>
                </a:solidFill>
                <a:latin typeface="Noto Sans"/>
                <a:ea typeface="Noto Sans"/>
                <a:cs typeface="Noto Sans"/>
              </a:rPr>
              <a:t>07  /  08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51435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3" name="Picture 2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928" y="384048"/>
            <a:ext cx="1874519" cy="578465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66928" y="1691640"/>
            <a:ext cx="9144000" cy="292608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D6FF00"/>
                </a:solidFill>
                <a:latin typeface="Noto Sans"/>
                <a:ea typeface="Noto Sans"/>
                <a:cs typeface="Noto Sans"/>
              </a:rPr>
              <a:t>NEXT DECK, SAME PATH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2084831"/>
            <a:ext cx="10972800" cy="13716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96000"/>
              </a:lnSpc>
            </a:pPr>
            <a:r>
              <a:rPr sz="4400" b="0">
                <a:solidFill>
                  <a:srgbClr val="FFFFFF"/>
                </a:solidFill>
                <a:latin typeface="Noto Sans Black"/>
                <a:ea typeface="Noto Sans Black"/>
                <a:cs typeface="Noto Sans Black"/>
              </a:rPr>
              <a:t>Find the tool. Ask for the deck.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3611880"/>
            <a:ext cx="10241280" cy="82296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00000"/>
              </a:lnSpc>
            </a:pPr>
            <a:r>
              <a:rPr sz="2000" b="0">
                <a:solidFill>
                  <a:srgbClr val="F8F0E4"/>
                </a:solidFill>
                <a:latin typeface="Noto Sans"/>
                <a:ea typeface="Noto Sans"/>
                <a:cs typeface="Noto Sans"/>
              </a:rPr>
              <a:t>Try Growth and Brand live. Deck generation runs locally; a published Copilot agent still requires tenant setup.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4709160"/>
            <a:ext cx="10972800" cy="41148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00000"/>
              </a:lnSpc>
            </a:pPr>
            <a:r>
              <a:rPr sz="1600" b="1">
                <a:solidFill>
                  <a:srgbClr val="D6FF00"/>
                </a:solidFill>
                <a:latin typeface="Noto Sans"/>
                <a:ea typeface="Noto Sans"/>
                <a:cs typeface="Noto Sans"/>
              </a:rPr>
              <a:t>https://wetland-ai-workspace-462504004653.northamerica-northeast2.run.app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6446520"/>
            <a:ext cx="8778240" cy="256032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00000"/>
              </a:lnSpc>
            </a:pPr>
            <a:r>
              <a:rPr sz="1100" b="0">
                <a:solidFill>
                  <a:srgbClr val="F8F0E4"/>
                </a:solidFill>
                <a:latin typeface="Noto Sans"/>
                <a:ea typeface="Noto Sans"/>
                <a:cs typeface="Noto Sans"/>
              </a:rPr>
              <a:t>Independent Wetland project  ·  Not official WaterAid guidance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509760" y="6446520"/>
            <a:ext cx="2103120" cy="256032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ctr">
              <a:lnSpc>
                <a:spcPct val="100000"/>
              </a:lnSpc>
            </a:pPr>
            <a:r>
              <a:rPr sz="1100" b="0">
                <a:solidFill>
                  <a:srgbClr val="F8F0E4"/>
                </a:solidFill>
                <a:latin typeface="Noto Sans"/>
                <a:ea typeface="Noto Sans"/>
                <a:cs typeface="Noto Sans"/>
              </a:rPr>
              <a:t>08  /  08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Wetland MCP marketplace</dc:title>
  <dc:subject>Built by the build_deck MCP tool</dc:subject>
  <dc:creator>Wetland Deck MCP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>MCP marketplace</cp:category>
</cp:coreProperties>
</file>